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9" r:id="rId3"/>
    <p:sldId id="257" r:id="rId4"/>
    <p:sldId id="293" r:id="rId5"/>
    <p:sldId id="294" r:id="rId6"/>
    <p:sldId id="295" r:id="rId7"/>
    <p:sldId id="258" r:id="rId8"/>
    <p:sldId id="296" r:id="rId9"/>
    <p:sldId id="297" r:id="rId10"/>
    <p:sldId id="286" r:id="rId11"/>
    <p:sldId id="287" r:id="rId12"/>
    <p:sldId id="288" r:id="rId13"/>
    <p:sldId id="267" r:id="rId14"/>
    <p:sldId id="271" r:id="rId15"/>
    <p:sldId id="298" r:id="rId16"/>
    <p:sldId id="290" r:id="rId17"/>
    <p:sldId id="299" r:id="rId18"/>
    <p:sldId id="291" r:id="rId19"/>
    <p:sldId id="292" r:id="rId20"/>
    <p:sldId id="273" r:id="rId21"/>
    <p:sldId id="265" r:id="rId22"/>
    <p:sldId id="26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e74ywXQ3WAx+gcgni+w7nXBvl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602FFC-E6F1-48FD-B3E5-CC246D8D6623}">
  <a:tblStyle styleId="{70602FFC-E6F1-48FD-B3E5-CC246D8D6623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5F8F902-6029-4759-B95E-2553FD537B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95" autoAdjust="0"/>
    <p:restoredTop sz="94714"/>
  </p:normalViewPr>
  <p:slideViewPr>
    <p:cSldViewPr snapToGrid="0">
      <p:cViewPr>
        <p:scale>
          <a:sx n="94" d="100"/>
          <a:sy n="94" d="100"/>
        </p:scale>
        <p:origin x="1512" y="6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78579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8B7395F-549F-0AFD-2DCF-FA64EBD2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3D9853D-5159-62A7-FAAF-BADDA2C55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EDE2875-4FC1-B2ED-F5D1-1FB7C61F01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402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3ED4F64-5E2B-C8CA-12CA-621B36093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8484D20-B85B-E0E9-7F97-5493AFB93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2BC7449-9182-D15C-4EF2-5CEB585689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281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9D14E20-CDC2-D3CE-18A4-9538F2BB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C738BED-6F14-1EEB-2819-331FC30F9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0DA9FFF-0FDE-E407-9A11-525ECFA1C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4715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7980D19-8676-7EE1-9923-52617C2F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51A96F9-3F3D-AED9-CD67-9E210A35F7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AF4308D-BAC5-1227-2609-B7D863CD5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0440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E877326-0F8E-E62F-9465-EEA0E442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475F5A7-437D-4E8E-93FA-631E5EC47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4CBF79C-5228-BA42-6940-13AF489D4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415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191AB95-B52D-2B6C-D389-383828B1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A3221B2-AAC7-8170-74AB-D5FF080F7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F483479-7950-9572-D9CC-6101B198A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0479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1E31A4E-519E-1A97-902E-87F6DA97E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E9C21F3-FACF-E57C-9C96-5C9C15980F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D7DDF0E-75CD-5010-1E94-47FF61FFF4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295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3944840-8B33-25DD-E537-E3F8A371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74B5E5B-F922-1176-D17D-437432312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550C3C0-D309-1820-1968-35DB7B33F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1695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3D81094-2BC3-6C0B-2D0A-77667274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F3CAFC5-A746-82AD-25C7-D4E080482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67B0B5F-CDC9-BEB9-134D-4E718B15D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173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8B5ADD9-AC45-8F38-45EC-D34EEAFC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A620089-54D5-078E-EA3B-586CEF662D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D1564D9-F6F8-69E3-13BB-E4A8CEC7B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5472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2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2"/>
          <p:cNvPicPr preferRelativeResize="0"/>
          <p:nvPr/>
        </p:nvPicPr>
        <p:blipFill rotWithShape="1">
          <a:blip r:embed="rId11">
            <a:alphaModFix/>
          </a:blip>
          <a:srcRect b="18045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PSCS_129</a:t>
            </a:r>
            <a:r>
              <a:rPr lang="en-US" sz="2400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_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DESIGN AND DEVELOPED A PRESONALIZED ONLINE MEETING FOR AICTIE</a:t>
            </a: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US" sz="1800" dirty="0">
                <a:latin typeface="Cambria"/>
                <a:ea typeface="Cambria"/>
                <a:cs typeface="Cambria"/>
                <a:sym typeface="Cambria"/>
              </a:rPr>
              <a:t>Batch Number:</a:t>
            </a: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CSE_271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677700" y="2754072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u="sng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Under the Supervision of,</a:t>
            </a:r>
          </a:p>
          <a:p>
            <a:r>
              <a:rPr lang="en-IN" dirty="0" err="1"/>
              <a:t>Dr.Hasan</a:t>
            </a:r>
            <a:r>
              <a:rPr lang="en-IN" dirty="0"/>
              <a:t> Hussain S </a:t>
            </a:r>
          </a:p>
          <a:p>
            <a:pPr>
              <a:spcBef>
                <a:spcPts val="340"/>
              </a:spcBef>
            </a:pPr>
            <a:r>
              <a:rPr lang="en-US" sz="1200" b="1" spc="-1" dirty="0">
                <a:solidFill>
                  <a:srgbClr val="17365D"/>
                </a:solidFill>
                <a:latin typeface="Cambria"/>
                <a:ea typeface="Cambria"/>
              </a:rPr>
              <a:t>Professor</a:t>
            </a:r>
            <a:endParaRPr lang="en-US" sz="1200" spc="-1" dirty="0"/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School of Computer Science and Engineering</a:t>
            </a:r>
            <a:endParaRPr sz="13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</a:t>
            </a:r>
            <a:endParaRPr sz="13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0" name="Google Shape;90;p1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{70602FFC-E6F1-48FD-B3E5-CC246D8D6623}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50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CSE 7101</a:t>
            </a:r>
            <a:r>
              <a:rPr lang="en-US" sz="18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- Capstone Project</a:t>
            </a:r>
            <a:endParaRPr sz="18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0" y="4619932"/>
            <a:ext cx="122499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Program: CCS-</a:t>
            </a:r>
            <a:r>
              <a:rPr lang="en-US" sz="1800" b="1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Computer Science and Engineering </a:t>
            </a:r>
            <a:endParaRPr dirty="0">
              <a:solidFill>
                <a:schemeClr val="dk1"/>
              </a:solidFill>
            </a:endParaRPr>
          </a:p>
          <a:p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HOD: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IN" sz="1800" b="1" dirty="0"/>
              <a:t>Dr. Blessed Prince ,</a:t>
            </a:r>
            <a:r>
              <a:rPr lang="en-IN" b="1" dirty="0"/>
              <a:t> </a:t>
            </a:r>
            <a:r>
              <a:rPr lang="en-IN" sz="1800" b="1" dirty="0"/>
              <a:t>Dr. Asif Mohammed</a:t>
            </a:r>
            <a:r>
              <a:rPr lang="en-IN" sz="1800" dirty="0"/>
              <a:t> </a:t>
            </a:r>
          </a:p>
          <a:p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 Project Coordinator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r>
              <a:rPr lang="en-IN" sz="1800" b="1" dirty="0" err="1"/>
              <a:t>Mr.Muthuraju</a:t>
            </a:r>
            <a:r>
              <a:rPr lang="en-IN" sz="1800" b="1" dirty="0"/>
              <a:t> V ,</a:t>
            </a:r>
            <a:r>
              <a:rPr lang="en-IN" b="1" dirty="0"/>
              <a:t> </a:t>
            </a:r>
            <a:r>
              <a:rPr lang="en-IN" sz="1800" b="1" dirty="0"/>
              <a:t>Dr. </a:t>
            </a:r>
            <a:r>
              <a:rPr lang="en-IN" sz="1800" b="1" dirty="0" err="1"/>
              <a:t>Jayavadivel</a:t>
            </a:r>
            <a:r>
              <a:rPr lang="en-IN" sz="1800" b="1" dirty="0"/>
              <a:t> Ravi</a:t>
            </a:r>
            <a:endParaRPr lang="en-IN" sz="1800" dirty="0"/>
          </a:p>
          <a:p>
            <a:r>
              <a:rPr lang="en-US" sz="1800" b="1" i="0" u="none" strike="noStrike" cap="none" dirty="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Sampath A K , Dr. Geetha A </a:t>
            </a:r>
            <a:endParaRPr sz="1800" b="1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3" name="Google Shape;93;p1"/>
          <p:cNvGraphicFramePr/>
          <p:nvPr>
            <p:extLst>
              <p:ext uri="{D42A27DB-BD31-4B8C-83A1-F6EECF244321}">
                <p14:modId xmlns:p14="http://schemas.microsoft.com/office/powerpoint/2010/main" val="2046384952"/>
              </p:ext>
            </p:extLst>
          </p:nvPr>
        </p:nvGraphicFramePr>
        <p:xfrm>
          <a:off x="271413" y="3175250"/>
          <a:ext cx="5804647" cy="1192520"/>
        </p:xfrm>
        <a:graphic>
          <a:graphicData uri="http://schemas.openxmlformats.org/drawingml/2006/table">
            <a:tbl>
              <a:tblPr>
                <a:noFill/>
                <a:tableStyleId>{E5F8F902-6029-4759-B95E-2553FD537B20}</a:tableStyleId>
              </a:tblPr>
              <a:tblGrid>
                <a:gridCol w="281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1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    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20221CSE0116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CHILMAKURI VARUN 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2C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75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20221CSE0110 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CD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E1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ABHISHEK MUTHANNA K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E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20221CSE0010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AMARA HEMA HARSHITH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D6E8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D8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57460" y="1092200"/>
            <a:ext cx="10668000" cy="568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 Analysis of Problem Statement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Existing Methods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Drawbacks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Proposed method &amp; Feasibility Study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Architecture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Hardware and software details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Working Screenshot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Git hub Link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References 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800" dirty="0"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Timeline of the Project 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6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553761" y="223881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Problem Statement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07884-FF29-959E-8002-7D546D99B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C9DF0-090E-0E02-1EB1-1B2BBC3A380B}"/>
              </a:ext>
            </a:extLst>
          </p:cNvPr>
          <p:cNvSpPr txBox="1"/>
          <p:nvPr/>
        </p:nvSpPr>
        <p:spPr>
          <a:xfrm>
            <a:off x="1252795" y="1355606"/>
            <a:ext cx="926198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Existing web-based meeting platforms (e.g., Zoom, Google Meet, Teams) operate as generalized solutions and do not support AICTE-oriented customization such as centralized authentication, personalized user dashboards, academic meeting scheduling, or institution-specific data management.</a:t>
            </a:r>
            <a:br>
              <a:rPr lang="en-IN" sz="2000" dirty="0"/>
            </a:br>
            <a:r>
              <a:rPr lang="en-IN" sz="2000" dirty="0"/>
              <a:t>There is currently </a:t>
            </a:r>
            <a:r>
              <a:rPr lang="en-IN" sz="2000" b="1" dirty="0"/>
              <a:t>no dedicated system</a:t>
            </a:r>
            <a:r>
              <a:rPr lang="en-IN" sz="2000" dirty="0"/>
              <a:t> that integrates: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Secure login using a unified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Personalized meeting room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Web-based real-time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Scalable backend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Custom interface for AICTE requirements</a:t>
            </a:r>
          </a:p>
          <a:p>
            <a:r>
              <a:rPr lang="en-IN" sz="2000" dirty="0"/>
              <a:t>This lack of customized functionality creates difficulties for students and faculty in accessing secure, institution-managed online meeting environments. Hence, there is a need to </a:t>
            </a:r>
            <a:r>
              <a:rPr lang="en-IN" sz="2000" b="1" dirty="0"/>
              <a:t>design and develop a personalized online meeting platform</a:t>
            </a:r>
            <a:r>
              <a:rPr lang="en-IN" sz="2000" dirty="0"/>
              <a:t> tailored specifically for AICTE.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D3700C4-3A9D-0B84-E6E5-2DD4C531E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CD8E8BF-2FC9-6F6D-4662-059A429B1D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Analysis of problem Statement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BE15AABC-E53B-1C4D-6D47-0A3411E04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2778E-CBD6-F243-AF70-9D5F3E2D3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F8D99-F411-8396-9C6F-B7A3D6F93E2A}"/>
              </a:ext>
            </a:extLst>
          </p:cNvPr>
          <p:cNvSpPr txBox="1"/>
          <p:nvPr/>
        </p:nvSpPr>
        <p:spPr>
          <a:xfrm>
            <a:off x="1278195" y="1465006"/>
            <a:ext cx="92619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The existing online meeting platforms used by AICTE institutions are </a:t>
            </a:r>
            <a:r>
              <a:rPr lang="en-IN" sz="2000" b="1" dirty="0"/>
              <a:t>generic tools</a:t>
            </a:r>
            <a:r>
              <a:rPr lang="en-IN" sz="2000" dirty="0"/>
              <a:t> that do not support academic-specific needs such as secure institutional login, personalized dashboards, or role-based meeting controls. They also pose challenges in </a:t>
            </a:r>
            <a:r>
              <a:rPr lang="en-IN" sz="2000" b="1" dirty="0"/>
              <a:t>data privacy</a:t>
            </a:r>
            <a:r>
              <a:rPr lang="en-IN" sz="2000" dirty="0"/>
              <a:t>, </a:t>
            </a:r>
            <a:r>
              <a:rPr lang="en-IN" sz="2000" b="1" dirty="0"/>
              <a:t>participant authentication</a:t>
            </a:r>
            <a:r>
              <a:rPr lang="en-IN" sz="2000" dirty="0"/>
              <a:t>, and </a:t>
            </a:r>
            <a:r>
              <a:rPr lang="en-IN" sz="2000" b="1" dirty="0"/>
              <a:t>customization</a:t>
            </a:r>
            <a:r>
              <a:rPr lang="en-IN" sz="2000" dirty="0"/>
              <a:t> for educational workflows. Because AICTE relies on third-party platforms, institutions lack control over user management, interface design, and meeting data storage. This highlights the need for a </a:t>
            </a:r>
            <a:r>
              <a:rPr lang="en-IN" sz="2000" b="1" dirty="0"/>
              <a:t>dedicated, customizable, and secure online meeting system</a:t>
            </a:r>
            <a:r>
              <a:rPr lang="en-IN" sz="2000" dirty="0"/>
              <a:t> designed specifically for AICTE to improve accessibility, personalization, and institutional data security.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448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37CC702-5478-A582-6916-680ED528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C393851-18D3-C491-7F2F-636E5FC9D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Abstract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94B3451-E8F1-65D9-0A80-CFAFE7A3A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56CFBE-C228-5727-A931-DCB1947DA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8F6E0-CEF2-FA16-6C7E-638BCD739030}"/>
              </a:ext>
            </a:extLst>
          </p:cNvPr>
          <p:cNvSpPr txBox="1"/>
          <p:nvPr/>
        </p:nvSpPr>
        <p:spPr>
          <a:xfrm>
            <a:off x="1278195" y="1465006"/>
            <a:ext cx="9261986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1600" dirty="0"/>
          </a:p>
          <a:p>
            <a:r>
              <a:rPr lang="en-IN" sz="1800" dirty="0"/>
              <a:t>This project presents the design and development of a </a:t>
            </a:r>
            <a:r>
              <a:rPr lang="en-IN" sz="1800" b="1" dirty="0"/>
              <a:t>Personalized Online Meeting Platform for AICTE</a:t>
            </a:r>
            <a:r>
              <a:rPr lang="en-IN" sz="1800" dirty="0"/>
              <a:t>, aimed at creating a dedicated communication solution for students, faculty, and administrators across AICTE-approved institutions. Existing commercial meeting tools do not provide academic-specific customization, centralized authentication, or institution-controlled data management. To overcome these limitations, the proposed system integrates </a:t>
            </a:r>
            <a:r>
              <a:rPr lang="en-IN" sz="1800" b="1" dirty="0"/>
              <a:t>secure </a:t>
            </a:r>
            <a:r>
              <a:rPr lang="en-IN" sz="1800" b="1" dirty="0" err="1"/>
              <a:t>Supabase</a:t>
            </a:r>
            <a:r>
              <a:rPr lang="en-IN" sz="1800" b="1" dirty="0"/>
              <a:t>-based authentication</a:t>
            </a:r>
            <a:r>
              <a:rPr lang="en-IN" sz="1800" dirty="0"/>
              <a:t>, </a:t>
            </a:r>
            <a:r>
              <a:rPr lang="en-IN" sz="1800" b="1" dirty="0"/>
              <a:t>personalized user dashboards</a:t>
            </a:r>
            <a:r>
              <a:rPr lang="en-IN" sz="1800" dirty="0"/>
              <a:t>, </a:t>
            </a:r>
            <a:r>
              <a:rPr lang="en-IN" sz="1800" b="1" dirty="0"/>
              <a:t>role-based meeting rooms</a:t>
            </a:r>
            <a:r>
              <a:rPr lang="en-IN" sz="1800" dirty="0"/>
              <a:t>, and an intuitive interface built with </a:t>
            </a:r>
            <a:r>
              <a:rPr lang="en-IN" sz="1800" b="1" dirty="0"/>
              <a:t>Vite, React, Tailwind CSS, and TypeScript</a:t>
            </a:r>
            <a:r>
              <a:rPr lang="en-IN" sz="1800" dirty="0"/>
              <a:t>.</a:t>
            </a:r>
          </a:p>
          <a:p>
            <a:r>
              <a:rPr lang="en-IN" sz="1800" dirty="0"/>
              <a:t>The platform enables users to schedule, join, and manage meetings seamlessly while ensuring data privacy, controlled access, and improved digital collaboration. By offering a customizable and scalable architecture, this solution supports institutional workflows, enhances online academic interactions, and reduces dependency on third-party platforms. Overall, the system delivers a secure, modern, and AICTE-aligned meeting environment that can be expanded with future features such as AI-powered transcripts, attendance tracking, and cloud recording.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79203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CDF9CDA-A6E4-57F7-E259-FE9499D9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68DA6B1-C1AE-425F-91D8-293B3BC1B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Literature Survey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C14C5B99-C20D-1BEB-BA4D-E65D2F8542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873019-8F79-8488-ACDE-43C5024D5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81D62-D44D-3DA0-0B51-22C7E065A26A}"/>
              </a:ext>
            </a:extLst>
          </p:cNvPr>
          <p:cNvSpPr txBox="1"/>
          <p:nvPr/>
        </p:nvSpPr>
        <p:spPr>
          <a:xfrm>
            <a:off x="833376" y="967295"/>
            <a:ext cx="10291824" cy="4601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1600" dirty="0"/>
          </a:p>
          <a:p>
            <a:r>
              <a:rPr lang="en-US" sz="1600" b="1" dirty="0"/>
              <a:t>Previous research shows: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IN" sz="1600" dirty="0"/>
              <a:t>Existing platforms like </a:t>
            </a:r>
            <a:r>
              <a:rPr lang="en-IN" sz="1600" b="1" dirty="0"/>
              <a:t>Zoom, Google Meet, and Microsoft Teams</a:t>
            </a:r>
            <a:r>
              <a:rPr lang="en-IN" sz="1600" dirty="0"/>
              <a:t> provide video conferencing but lack </a:t>
            </a:r>
            <a:r>
              <a:rPr lang="en-IN" sz="1600" b="1" dirty="0"/>
              <a:t>institution-specific customization</a:t>
            </a:r>
            <a:r>
              <a:rPr lang="en-IN" sz="1600" dirty="0"/>
              <a:t> for AICTE.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IN" sz="1600" dirty="0"/>
              <a:t>Research shows that these tools do not support </a:t>
            </a:r>
            <a:r>
              <a:rPr lang="en-IN" sz="1600" b="1" dirty="0"/>
              <a:t>centralized authentication</a:t>
            </a:r>
            <a:r>
              <a:rPr lang="en-IN" sz="1600" dirty="0"/>
              <a:t> or </a:t>
            </a:r>
            <a:r>
              <a:rPr lang="en-IN" sz="1600" b="1" dirty="0"/>
              <a:t>role-based academic access</a:t>
            </a:r>
            <a:r>
              <a:rPr lang="en-IN" sz="1600" dirty="0"/>
              <a:t>.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IN" sz="1600" dirty="0"/>
              <a:t>Studies on </a:t>
            </a:r>
            <a:r>
              <a:rPr lang="en-IN" sz="1600" b="1" dirty="0"/>
              <a:t>WebRTC</a:t>
            </a:r>
            <a:r>
              <a:rPr lang="en-IN" sz="1600" dirty="0"/>
              <a:t> highlight its capability for real-time communication but do not address </a:t>
            </a:r>
            <a:r>
              <a:rPr lang="en-IN" sz="1600" b="1" dirty="0"/>
              <a:t>personalized dashboards</a:t>
            </a:r>
            <a:r>
              <a:rPr lang="en-IN" sz="1600" dirty="0"/>
              <a:t> or </a:t>
            </a:r>
            <a:r>
              <a:rPr lang="en-IN" sz="1600" b="1" dirty="0"/>
              <a:t>academic meeting management</a:t>
            </a:r>
            <a:r>
              <a:rPr lang="en-IN" sz="1600" dirty="0"/>
              <a:t>.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IN" sz="1600" dirty="0"/>
              <a:t>E-learning literature emphasizes the need for </a:t>
            </a:r>
            <a:r>
              <a:rPr lang="en-IN" sz="1600" b="1" dirty="0"/>
              <a:t>integrated platforms</a:t>
            </a:r>
            <a:r>
              <a:rPr lang="en-IN" sz="1600" dirty="0"/>
              <a:t> that combine teaching, communication, and user management in one system.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IN" sz="1600" dirty="0"/>
              <a:t>Security research identifies issues such as </a:t>
            </a:r>
            <a:r>
              <a:rPr lang="en-IN" sz="1600" b="1" dirty="0"/>
              <a:t>data privacy risks</a:t>
            </a:r>
            <a:r>
              <a:rPr lang="en-IN" sz="1600" dirty="0"/>
              <a:t>, </a:t>
            </a:r>
            <a:r>
              <a:rPr lang="en-IN" sz="1600" b="1" dirty="0"/>
              <a:t>external data storage</a:t>
            </a:r>
            <a:r>
              <a:rPr lang="en-IN" sz="1600" dirty="0"/>
              <a:t>, and </a:t>
            </a:r>
            <a:r>
              <a:rPr lang="en-IN" sz="1600" b="1" dirty="0"/>
              <a:t>unauthorized access</a:t>
            </a:r>
            <a:r>
              <a:rPr lang="en-IN" sz="1600" dirty="0"/>
              <a:t> when using third-party meeting tools.</a:t>
            </a:r>
          </a:p>
          <a:p>
            <a:pPr algn="just">
              <a:lnSpc>
                <a:spcPct val="150000"/>
              </a:lnSpc>
              <a:buFont typeface="Arial"/>
              <a:buChar char="•"/>
            </a:pPr>
            <a:r>
              <a:rPr lang="en-IN" sz="1600" dirty="0"/>
              <a:t>Overall, literature points to the need for a </a:t>
            </a:r>
            <a:r>
              <a:rPr lang="en-IN" sz="1600" b="1" dirty="0"/>
              <a:t>custom, secure, and institution-controlled online meeting system</a:t>
            </a:r>
            <a:r>
              <a:rPr lang="en-IN" sz="1600" dirty="0"/>
              <a:t> tailored for educational environments like AICTE.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7343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4296697" y="255086"/>
            <a:ext cx="8727768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3200" u="sng" dirty="0">
                <a:latin typeface="Cambria"/>
                <a:ea typeface="Cambria"/>
                <a:cs typeface="Cambria"/>
                <a:sym typeface="Cambria"/>
              </a:rPr>
              <a:t> Objectives</a:t>
            </a: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629882" y="845574"/>
            <a:ext cx="10668000" cy="5348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1400" dirty="0"/>
          </a:p>
          <a:p>
            <a:pPr marL="7620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39FA3-3B8F-5F22-7D8A-21BE73B45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3111"/>
            <a:ext cx="2295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D4720-D651-80F4-6F2E-6B87DA51025D}"/>
              </a:ext>
            </a:extLst>
          </p:cNvPr>
          <p:cNvSpPr txBox="1"/>
          <p:nvPr/>
        </p:nvSpPr>
        <p:spPr>
          <a:xfrm>
            <a:off x="894118" y="1170039"/>
            <a:ext cx="1053588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Primary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 design and develop a </a:t>
            </a:r>
            <a:r>
              <a:rPr lang="en-IN" sz="2000" b="1" dirty="0"/>
              <a:t>personalized, secure, and institution-specific online meeting platform</a:t>
            </a:r>
            <a:r>
              <a:rPr lang="en-IN" sz="2000" dirty="0"/>
              <a:t> tailored to the needs of AICTE institutions.</a:t>
            </a:r>
          </a:p>
          <a:p>
            <a:endParaRPr lang="en-US" sz="2000" b="1" dirty="0"/>
          </a:p>
          <a:p>
            <a:r>
              <a:rPr lang="en-US" sz="2000" b="1" dirty="0"/>
              <a:t> </a:t>
            </a:r>
          </a:p>
          <a:p>
            <a:r>
              <a:rPr lang="en-IN" sz="2000" b="1" dirty="0"/>
              <a:t>Secondary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 implement </a:t>
            </a:r>
            <a:r>
              <a:rPr lang="en-IN" sz="2000" b="1" dirty="0"/>
              <a:t>centralized authentication</a:t>
            </a:r>
            <a:r>
              <a:rPr lang="en-IN" sz="2000" dirty="0"/>
              <a:t> for students and faculty.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 create </a:t>
            </a:r>
            <a:r>
              <a:rPr lang="en-IN" sz="2000" b="1" dirty="0"/>
              <a:t>personalized dashboards</a:t>
            </a:r>
            <a:r>
              <a:rPr lang="en-IN" sz="2000" dirty="0"/>
              <a:t> for managing meetings and user profiles.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 enable features such as </a:t>
            </a:r>
            <a:r>
              <a:rPr lang="en-IN" sz="2000" b="1" dirty="0"/>
              <a:t>creating, scheduling, and joining meetings</a:t>
            </a:r>
            <a:r>
              <a:rPr lang="en-IN" sz="2000" dirty="0"/>
              <a:t> with 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 ensure </a:t>
            </a:r>
            <a:r>
              <a:rPr lang="en-IN" sz="2000" b="1" dirty="0"/>
              <a:t>data privacy and secure access control</a:t>
            </a:r>
            <a:r>
              <a:rPr lang="en-IN" sz="2000" dirty="0"/>
              <a:t> within the institution.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 use modern web technologies (React, Tailwind, </a:t>
            </a:r>
            <a:r>
              <a:rPr lang="en-IN" sz="2000" dirty="0" err="1"/>
              <a:t>Supabase</a:t>
            </a:r>
            <a:r>
              <a:rPr lang="en-IN" sz="2000" dirty="0"/>
              <a:t>) for </a:t>
            </a:r>
            <a:r>
              <a:rPr lang="en-IN" sz="2000" b="1" dirty="0"/>
              <a:t>scalability and performance</a:t>
            </a:r>
            <a:r>
              <a:rPr lang="en-IN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 reduce dependency on external platforms by providing a </a:t>
            </a:r>
            <a:r>
              <a:rPr lang="en-IN" sz="2000" b="1" dirty="0"/>
              <a:t>custom AICTE-controlled solution</a:t>
            </a:r>
            <a:r>
              <a:rPr lang="en-IN" sz="20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D0414D3-4826-A119-C3FC-61803A44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BEE26DA-91D6-46CD-3E45-1B4D9985C7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Existing Methods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2786513-A1E5-3BC8-E63D-43A7915F8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A8A5D-AE7C-8998-F963-4AF092E51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6AFB9-CBFE-334F-EFB9-1D0864020448}"/>
              </a:ext>
            </a:extLst>
          </p:cNvPr>
          <p:cNvSpPr txBox="1"/>
          <p:nvPr/>
        </p:nvSpPr>
        <p:spPr>
          <a:xfrm>
            <a:off x="1240873" y="906497"/>
            <a:ext cx="926198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1600" dirty="0"/>
            </a:br>
            <a:endParaRPr lang="en-IN" sz="1600" dirty="0"/>
          </a:p>
          <a:p>
            <a:r>
              <a:rPr lang="en-IN" sz="2000" b="1" dirty="0"/>
              <a:t>Existing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Zoom, Google Meet, and Microsoft Teams</a:t>
            </a:r>
            <a:r>
              <a:rPr lang="en-IN" sz="2000" dirty="0"/>
              <a:t> are widely used for online classes and meetings.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These platforms support </a:t>
            </a:r>
            <a:r>
              <a:rPr lang="en-IN" sz="2000" b="1" dirty="0"/>
              <a:t>video conferencing, screen sharing, and chat</a:t>
            </a:r>
            <a:r>
              <a:rPr lang="en-IN" sz="2000" dirty="0"/>
              <a:t>, making them useful for general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Institutions often rely on </a:t>
            </a:r>
            <a:r>
              <a:rPr lang="en-IN" sz="2000" b="1" dirty="0"/>
              <a:t>external login systems</a:t>
            </a:r>
            <a:r>
              <a:rPr lang="en-IN" sz="2000" dirty="0"/>
              <a:t> instead of centralized academic authentication.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Meeting links are typically shared manually, leading to </a:t>
            </a:r>
            <a:r>
              <a:rPr lang="en-IN" sz="2000" b="1" dirty="0"/>
              <a:t>security risks</a:t>
            </a:r>
            <a:r>
              <a:rPr lang="en-IN" sz="2000" dirty="0"/>
              <a:t> like unauthorized participants.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No built-in </a:t>
            </a:r>
            <a:r>
              <a:rPr lang="en-IN" sz="2000" b="1" dirty="0"/>
              <a:t>personalized dashboards</a:t>
            </a:r>
            <a:r>
              <a:rPr lang="en-IN" sz="2000" dirty="0"/>
              <a:t> for students or faculty to view scheduled academic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is stored on third-party servers</a:t>
            </a:r>
            <a:r>
              <a:rPr lang="en-IN" sz="2000" dirty="0"/>
              <a:t>, giving institutions limited control over privacy and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Lack of </a:t>
            </a:r>
            <a:r>
              <a:rPr lang="en-IN" sz="2000" b="1" dirty="0"/>
              <a:t>custom academic features</a:t>
            </a:r>
            <a:r>
              <a:rPr lang="en-IN" sz="2000" dirty="0"/>
              <a:t> such as attendance integration, institutional branding, or role-based meeting control.</a:t>
            </a:r>
          </a:p>
        </p:txBody>
      </p:sp>
    </p:spTree>
    <p:extLst>
      <p:ext uri="{BB962C8B-B14F-4D97-AF65-F5344CB8AC3E}">
        <p14:creationId xmlns:p14="http://schemas.microsoft.com/office/powerpoint/2010/main" val="295209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C00C4A6-08A9-8C5E-F99A-C52587232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A6134AF-13DF-7FE2-64FE-7D45AABCD7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93" y="2913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200" u="sng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Drawbacks</a:t>
            </a:r>
            <a:endParaRPr lang="en-US" sz="32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5F4EDA04-C2A3-51BC-F709-5403FBB31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8929" y="1583267"/>
            <a:ext cx="10989310" cy="321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800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AAC4D-DD3C-3C36-27F8-E871CD51C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761" y="2178653"/>
            <a:ext cx="9278496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8AA4F-7625-C81A-AFC3-6BACB8B8B6B8}"/>
              </a:ext>
            </a:extLst>
          </p:cNvPr>
          <p:cNvSpPr txBox="1"/>
          <p:nvPr/>
        </p:nvSpPr>
        <p:spPr>
          <a:xfrm>
            <a:off x="1668207" y="1440502"/>
            <a:ext cx="92619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Lack of institution-specific customization for AICTE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centralized authentication, causing difficulty in verifying students and faculty.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risk of unauthorized access due to publicly shared meeting links.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personalized dashboards for academic schedules or class-wise meetings.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Institutions have no control over data storage, creating privacy and security concerns.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support for academic workflows like attendance tracking or role-based controls.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Heavy dependency on third-party platforms, reducing reliability and institutional autonomy.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Possible network issues and latency when large numbers of students join simultaneously.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16FDA85-ED32-839B-113D-CE4EA456A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authentication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causing difficulty in verifying students and faculty.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941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BA0189-5B52-CD64-45E9-564FDDD15D51}"/>
              </a:ext>
            </a:extLst>
          </p:cNvPr>
          <p:cNvSpPr txBox="1"/>
          <p:nvPr/>
        </p:nvSpPr>
        <p:spPr>
          <a:xfrm>
            <a:off x="3696929" y="0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  <a:spcBef>
                <a:spcPts val="0"/>
              </a:spcBef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Analysis and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68D3B9-1D4A-BE40-0F0D-AB029B4EC1D0}"/>
              </a:ext>
            </a:extLst>
          </p:cNvPr>
          <p:cNvSpPr txBox="1"/>
          <p:nvPr/>
        </p:nvSpPr>
        <p:spPr>
          <a:xfrm>
            <a:off x="1356852" y="1257344"/>
            <a:ext cx="24187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Block Diagram: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75CF6-AF45-5926-8A23-4606FBC2B71F}"/>
              </a:ext>
            </a:extLst>
          </p:cNvPr>
          <p:cNvSpPr txBox="1"/>
          <p:nvPr/>
        </p:nvSpPr>
        <p:spPr>
          <a:xfrm>
            <a:off x="2566219" y="2061226"/>
            <a:ext cx="61012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+-----------+        +-------------------+        +------------------+</a:t>
            </a:r>
          </a:p>
          <a:p>
            <a:r>
              <a:rPr lang="en-US" dirty="0"/>
              <a:t>|   User    |  ---&gt;  |  Frontend (UI)    |  ---&gt;  | Authentication   |</a:t>
            </a:r>
          </a:p>
          <a:p>
            <a:r>
              <a:rPr lang="en-US" dirty="0"/>
              <a:t>| (Student/ |        | React + Tailwind  |        |   (</a:t>
            </a:r>
            <a:r>
              <a:rPr lang="en-US" dirty="0" err="1"/>
              <a:t>Supabase</a:t>
            </a:r>
            <a:r>
              <a:rPr lang="en-US" dirty="0"/>
              <a:t>)     |</a:t>
            </a:r>
          </a:p>
          <a:p>
            <a:r>
              <a:rPr lang="en-US" dirty="0"/>
              <a:t>|  Faculty) |        +-------------------+        +------------------+</a:t>
            </a:r>
          </a:p>
          <a:p>
            <a:r>
              <a:rPr lang="en-US" dirty="0"/>
              <a:t>     |                        |                              |</a:t>
            </a:r>
          </a:p>
          <a:p>
            <a:r>
              <a:rPr lang="en-US" dirty="0"/>
              <a:t>     |                        v                              v</a:t>
            </a:r>
          </a:p>
          <a:p>
            <a:r>
              <a:rPr lang="en-US" dirty="0"/>
              <a:t>     |               +-------------------+        +------------------+</a:t>
            </a:r>
          </a:p>
          <a:p>
            <a:r>
              <a:rPr lang="en-US" dirty="0"/>
              <a:t>     |               |  Meeting Manager  | &lt;----&gt; |  Database        |</a:t>
            </a:r>
          </a:p>
          <a:p>
            <a:r>
              <a:rPr lang="en-US" dirty="0"/>
              <a:t>     |               | (Create/Join/etc.)|        | (Users, Meetings)|</a:t>
            </a:r>
          </a:p>
          <a:p>
            <a:r>
              <a:rPr lang="en-US" dirty="0"/>
              <a:t>     |               +-------------------+        +------------------+</a:t>
            </a:r>
          </a:p>
          <a:p>
            <a:r>
              <a:rPr lang="en-US" dirty="0"/>
              <a:t>     |                        |</a:t>
            </a:r>
          </a:p>
          <a:p>
            <a:r>
              <a:rPr lang="en-US" dirty="0"/>
              <a:t>     |                        v</a:t>
            </a:r>
          </a:p>
          <a:p>
            <a:r>
              <a:rPr lang="en-US" dirty="0"/>
              <a:t>     |               +-------------------+</a:t>
            </a:r>
          </a:p>
          <a:p>
            <a:r>
              <a:rPr lang="en-US" dirty="0"/>
              <a:t>     +-------------&gt; |  Live Meeting UI  |</a:t>
            </a:r>
          </a:p>
          <a:p>
            <a:r>
              <a:rPr lang="en-US" dirty="0"/>
              <a:t>                     | (Video/Controls)  |</a:t>
            </a:r>
          </a:p>
          <a:p>
            <a:r>
              <a:rPr lang="en-US" dirty="0"/>
              <a:t>                     +-------------------+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1602374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114B4-E9CF-32EB-6860-EA2C687E1907}"/>
              </a:ext>
            </a:extLst>
          </p:cNvPr>
          <p:cNvSpPr txBox="1"/>
          <p:nvPr/>
        </p:nvSpPr>
        <p:spPr>
          <a:xfrm>
            <a:off x="1040533" y="1562636"/>
            <a:ext cx="2320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System flow chart: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848B6-7F84-97B9-C316-DF33289B0AE4}"/>
              </a:ext>
            </a:extLst>
          </p:cNvPr>
          <p:cNvSpPr txBox="1"/>
          <p:nvPr/>
        </p:nvSpPr>
        <p:spPr>
          <a:xfrm>
            <a:off x="3696930" y="-70855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  <a:spcBef>
                <a:spcPts val="0"/>
              </a:spcBef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Analysis and Design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2E05B6AE-BA1C-1DDD-1276-B72A696F5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296" y="1340069"/>
            <a:ext cx="6446538" cy="551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122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B41BA-2307-446C-E99A-29A55331D919}"/>
              </a:ext>
            </a:extLst>
          </p:cNvPr>
          <p:cNvSpPr txBox="1"/>
          <p:nvPr/>
        </p:nvSpPr>
        <p:spPr>
          <a:xfrm>
            <a:off x="3696930" y="-70855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Analysis of 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7FBC2-E9C4-188D-519E-5549299E4F41}"/>
              </a:ext>
            </a:extLst>
          </p:cNvPr>
          <p:cNvSpPr txBox="1"/>
          <p:nvPr/>
        </p:nvSpPr>
        <p:spPr>
          <a:xfrm>
            <a:off x="1249680" y="988060"/>
            <a:ext cx="4348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/>
              <a:t>Algorithm: Admin Login &amp;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B6DCB7-9D9A-96B1-D022-37E94660985A}"/>
              </a:ext>
            </a:extLst>
          </p:cNvPr>
          <p:cNvSpPr txBox="1"/>
          <p:nvPr/>
        </p:nvSpPr>
        <p:spPr>
          <a:xfrm>
            <a:off x="931333" y="1326614"/>
            <a:ext cx="1055200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The system follows a modular algorithmic flow: user authentication → dashboard loading → meeting creation/join → log storage.</a:t>
            </a:r>
          </a:p>
          <a:p>
            <a:r>
              <a:rPr lang="en-US" sz="1600" b="1" dirty="0"/>
              <a:t>Authentication Algorithm: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Validates user credentials against the database.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Each login attempt is handled in O(1) average time using indexed lookups in </a:t>
            </a:r>
            <a:r>
              <a:rPr lang="en-US" sz="1600" b="1" dirty="0" err="1"/>
              <a:t>Supabase</a:t>
            </a:r>
            <a:r>
              <a:rPr lang="en-US" sz="1600" b="1" dirty="0"/>
              <a:t>.</a:t>
            </a:r>
          </a:p>
          <a:p>
            <a:r>
              <a:rPr lang="en-US" sz="1600" b="1" dirty="0"/>
              <a:t>Meeting Management Algorithm: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Creating a meeting involves inserting a single record into the database → O(1)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Joining a meeting requires fetching meeting details by ID → O(1) average time with indexing.</a:t>
            </a:r>
          </a:p>
          <a:p>
            <a:r>
              <a:rPr lang="en-US" sz="1600" b="1" dirty="0"/>
              <a:t>Dashboard Loading Algorithm: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Fetches all meetings related to a user.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Time complexity is O(n), where n is the number of meetings for that user.</a:t>
            </a:r>
          </a:p>
          <a:p>
            <a:r>
              <a:rPr lang="en-US" sz="1600" b="1" dirty="0"/>
              <a:t>Space Complexity: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Mainly depends on the number of stored users and meetings.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Overall space complexity is O(u + m), where u = users, m = meetings.</a:t>
            </a:r>
          </a:p>
          <a:p>
            <a:r>
              <a:rPr lang="en-US" sz="1600" b="1" dirty="0"/>
              <a:t>The algorithms are efficient, scalable, and suitable for real-time web applications, ensuring quick responses even when the number of users and meetings increases.</a:t>
            </a:r>
            <a:endParaRPr lang="en-US" sz="16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28613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9E3D144-C6CA-EC1C-EED9-F2AD8B8E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3AE59853-2A12-BF74-FF13-B11CA44198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12646" y="527636"/>
            <a:ext cx="8727768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    Technologies Used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3E61D4B-DC86-9414-EFD1-16068A80E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4333" y="1015136"/>
            <a:ext cx="10114636" cy="504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indent="0">
              <a:buNone/>
            </a:pPr>
            <a:r>
              <a:rPr lang="en-IN" sz="1600" dirty="0"/>
              <a:t>Frontend Technologies</a:t>
            </a:r>
          </a:p>
          <a:p>
            <a:pPr marL="76200" indent="0">
              <a:buNone/>
            </a:pPr>
            <a:endParaRPr lang="en-IN" sz="1600" dirty="0"/>
          </a:p>
          <a:p>
            <a:r>
              <a:rPr lang="en-IN" sz="1600" dirty="0"/>
              <a:t>HTML5 – Structure and layout of the web interface.</a:t>
            </a:r>
          </a:p>
          <a:p>
            <a:r>
              <a:rPr lang="en-IN" sz="1600" dirty="0"/>
              <a:t>CSS3 / Tailwind CSS – Styling, responsive design, and UI components.</a:t>
            </a:r>
          </a:p>
          <a:p>
            <a:r>
              <a:rPr lang="en-IN" sz="1600" dirty="0"/>
              <a:t>JavaScript / TypeScript – Logic handling, type safety, and interactivity.</a:t>
            </a:r>
          </a:p>
          <a:p>
            <a:r>
              <a:rPr lang="en-IN" sz="1600" dirty="0"/>
              <a:t>React + Vite – Fast, modern framework for building the user interface.</a:t>
            </a:r>
          </a:p>
          <a:p>
            <a:pPr marL="76200" indent="0">
              <a:buNone/>
            </a:pPr>
            <a:endParaRPr lang="en-IN" sz="1600" dirty="0"/>
          </a:p>
          <a:p>
            <a:pPr marL="76200" indent="0">
              <a:buNone/>
            </a:pPr>
            <a:r>
              <a:rPr lang="en-IN" sz="1600" dirty="0"/>
              <a:t>Backend &amp; Database</a:t>
            </a:r>
          </a:p>
          <a:p>
            <a:pPr marL="76200" indent="0">
              <a:buNone/>
            </a:pPr>
            <a:endParaRPr lang="en-IN" sz="1600" dirty="0"/>
          </a:p>
          <a:p>
            <a:r>
              <a:rPr lang="en-IN" sz="1600" dirty="0" err="1"/>
              <a:t>Supabase</a:t>
            </a:r>
            <a:r>
              <a:rPr lang="en-IN" sz="1600" dirty="0"/>
              <a:t> Authentication – Secure user login and session management.</a:t>
            </a:r>
          </a:p>
          <a:p>
            <a:r>
              <a:rPr lang="en-IN" sz="1600" dirty="0" err="1"/>
              <a:t>Supabase</a:t>
            </a:r>
            <a:r>
              <a:rPr lang="en-IN" sz="1600" dirty="0"/>
              <a:t> PostgreSQL Database – Stores user information, meetings, and logs.</a:t>
            </a:r>
          </a:p>
          <a:p>
            <a:pPr marL="76200" indent="0">
              <a:buNone/>
            </a:pPr>
            <a:endParaRPr lang="en-IN" sz="1600" dirty="0"/>
          </a:p>
          <a:p>
            <a:pPr marL="76200" indent="0">
              <a:buNone/>
            </a:pPr>
            <a:r>
              <a:rPr lang="en-IN" sz="1600" dirty="0"/>
              <a:t>Deployment &amp; Tools</a:t>
            </a:r>
          </a:p>
          <a:p>
            <a:pPr marL="76200" indent="0">
              <a:buNone/>
            </a:pPr>
            <a:endParaRPr lang="en-IN" sz="1600" dirty="0"/>
          </a:p>
          <a:p>
            <a:r>
              <a:rPr lang="en-IN" sz="1600" dirty="0"/>
              <a:t>Node.js – Development environment and package handling.</a:t>
            </a:r>
          </a:p>
          <a:p>
            <a:r>
              <a:rPr lang="en-IN" sz="1600" dirty="0"/>
              <a:t>Vite Dev Server – High-speed bundling and hot-reload development.</a:t>
            </a:r>
          </a:p>
          <a:p>
            <a:r>
              <a:rPr lang="en-IN" sz="1600" dirty="0"/>
              <a:t>Git/GitHub – Version control and project hosting.</a:t>
            </a:r>
          </a:p>
        </p:txBody>
      </p:sp>
    </p:spTree>
    <p:extLst>
      <p:ext uri="{BB962C8B-B14F-4D97-AF65-F5344CB8AC3E}">
        <p14:creationId xmlns:p14="http://schemas.microsoft.com/office/powerpoint/2010/main" val="96740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55436D3-8F7A-F413-F26D-5345E4A16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4BBD6356-F635-1BF3-EE97-540135524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1097" y="809029"/>
            <a:ext cx="988797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Modules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8A935A-1A6A-5A12-D052-4A5E16E3C4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311" y="1052779"/>
            <a:ext cx="4757469" cy="5337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IN" sz="1000" dirty="0"/>
              <a:t>1. Authentication Module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Handles login and registration using </a:t>
            </a:r>
            <a:r>
              <a:rPr lang="en-IN" sz="1000" dirty="0" err="1"/>
              <a:t>Supabase</a:t>
            </a:r>
            <a:r>
              <a:rPr lang="en-IN" sz="1000" dirty="0"/>
              <a:t> Auth.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Verifies user credentials and manages secure sessions.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Supports student, faculty, and admin roles.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000" dirty="0"/>
              <a:t>2. User Dashboard Module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Displays upcoming and past meetings.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Provides personalized meeting options and profile details.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Acts as the central control panel for users.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000" dirty="0"/>
              <a:t>3. Meeting Management Module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Allows users to create, schedule, or join meetings.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Stores meeting details in the database.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Ensures role-based access and secure meeting entry.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000" dirty="0"/>
              <a:t>4. Live Meeting Interface Module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Provides the meeting UI for the ongoing session.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Handles audio/video controls (or placeholders for future integration).</a:t>
            </a:r>
          </a:p>
          <a:p>
            <a:pPr>
              <a:lnSpc>
                <a:spcPct val="150000"/>
              </a:lnSpc>
            </a:pPr>
            <a:r>
              <a:rPr lang="en-IN" sz="1000" dirty="0"/>
              <a:t>Enables real-time interaction between participants.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000" dirty="0"/>
              <a:t>PostgreSQL.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A9138-E671-7B4C-3955-EED3993EE8C2}"/>
              </a:ext>
            </a:extLst>
          </p:cNvPr>
          <p:cNvSpPr txBox="1"/>
          <p:nvPr/>
        </p:nvSpPr>
        <p:spPr>
          <a:xfrm>
            <a:off x="6096000" y="1296529"/>
            <a:ext cx="4163319" cy="17620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IN" sz="1050" dirty="0"/>
              <a:t>5. Database Module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Manages all data related to users, meetings, and logs.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Ensures data integrity, retrieval, and storage using </a:t>
            </a:r>
            <a:r>
              <a:rPr lang="en-IN" sz="1050" dirty="0" err="1"/>
              <a:t>Supabase</a:t>
            </a:r>
            <a:r>
              <a:rPr lang="en-IN" sz="1050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1050" dirty="0"/>
              <a:t>6. Admin Module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Allows admin to monitor users and meetings.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Provides control over accounts, access, and platform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066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BDFFA91-FF92-6AFE-851E-DA87C7FDA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B40B3585-4C2B-DAA5-EEA4-74A0B3FCA2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4244" y="799724"/>
            <a:ext cx="988797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Hardware and Software details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715ABC-16F7-1EA8-5BD9-C4858FB65C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35663" y="1338483"/>
            <a:ext cx="9887976" cy="4372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buNone/>
            </a:pPr>
            <a:r>
              <a:rPr lang="en-IN" sz="1600" b="1" dirty="0"/>
              <a:t>Hardware:</a:t>
            </a:r>
          </a:p>
          <a:p>
            <a:r>
              <a:rPr lang="en-IN" sz="1600" dirty="0"/>
              <a:t>Laptop / Desktop</a:t>
            </a:r>
          </a:p>
          <a:p>
            <a:r>
              <a:rPr lang="en-IN" sz="1600" dirty="0"/>
              <a:t>Stable Internet Connection</a:t>
            </a:r>
          </a:p>
          <a:p>
            <a:pPr marL="76200" indent="0">
              <a:buNone/>
            </a:pPr>
            <a:endParaRPr lang="en-IN" sz="1600" dirty="0"/>
          </a:p>
          <a:p>
            <a:pPr marL="76200" indent="0">
              <a:buNone/>
            </a:pPr>
            <a:r>
              <a:rPr lang="en-IN" sz="1600" b="1" dirty="0"/>
              <a:t>Software:</a:t>
            </a:r>
          </a:p>
          <a:p>
            <a:r>
              <a:rPr lang="en-IN" sz="1600" dirty="0"/>
              <a:t>HTML, CSS, JavaScript / TypeScript</a:t>
            </a:r>
          </a:p>
          <a:p>
            <a:r>
              <a:rPr lang="en-IN" sz="1600" dirty="0"/>
              <a:t>React + Vite</a:t>
            </a:r>
          </a:p>
          <a:p>
            <a:r>
              <a:rPr lang="en-IN" sz="1600" dirty="0"/>
              <a:t>Tailwind CSS (UI Framework)</a:t>
            </a:r>
          </a:p>
          <a:p>
            <a:r>
              <a:rPr lang="en-IN" sz="1600" dirty="0" err="1"/>
              <a:t>Supabase</a:t>
            </a:r>
            <a:r>
              <a:rPr lang="en-IN" sz="1600" dirty="0"/>
              <a:t> Authentication</a:t>
            </a:r>
          </a:p>
          <a:p>
            <a:r>
              <a:rPr lang="en-IN" sz="1600" dirty="0" err="1"/>
              <a:t>Supabase</a:t>
            </a:r>
            <a:r>
              <a:rPr lang="en-IN" sz="1600" dirty="0"/>
              <a:t> PostgreSQL Database</a:t>
            </a:r>
          </a:p>
          <a:p>
            <a:r>
              <a:rPr lang="en-IN" sz="1600" dirty="0"/>
              <a:t>VS Code (Code Editor)</a:t>
            </a:r>
          </a:p>
          <a:p>
            <a:r>
              <a:rPr lang="en-IN" sz="1600" dirty="0"/>
              <a:t>Node.js (Runtime Environment)</a:t>
            </a:r>
          </a:p>
          <a:p>
            <a:r>
              <a:rPr lang="en-IN" sz="1600" dirty="0"/>
              <a:t>GitHub (Version Control)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212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6E04-C38D-69F7-550B-CF49A67C4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01FCD5-7956-9D5D-8543-1386D42BEDD9}"/>
              </a:ext>
            </a:extLst>
          </p:cNvPr>
          <p:cNvSpPr txBox="1"/>
          <p:nvPr/>
        </p:nvSpPr>
        <p:spPr>
          <a:xfrm>
            <a:off x="3696930" y="-70855"/>
            <a:ext cx="6096000" cy="92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sz="3200" b="1" u="sng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Screenshots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9C75D-1040-3241-B2AB-BB062B7B3206}"/>
              </a:ext>
            </a:extLst>
          </p:cNvPr>
          <p:cNvSpPr txBox="1"/>
          <p:nvPr/>
        </p:nvSpPr>
        <p:spPr>
          <a:xfrm>
            <a:off x="4784018" y="5937336"/>
            <a:ext cx="2623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login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5E58FF-9EE4-FCD1-86F1-F1D8758C5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08" y="1293149"/>
            <a:ext cx="10472383" cy="451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81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27B6D1-7C2F-AA3D-4B21-CBE52BC9C540}"/>
              </a:ext>
            </a:extLst>
          </p:cNvPr>
          <p:cNvSpPr txBox="1"/>
          <p:nvPr/>
        </p:nvSpPr>
        <p:spPr>
          <a:xfrm>
            <a:off x="4985232" y="5842646"/>
            <a:ext cx="3224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Apps main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6CDE26-65F6-0B36-F763-74272DA5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09" y="1105469"/>
            <a:ext cx="10563367" cy="453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13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6E64D-C363-35E4-2796-68BB33801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0C25E-C11A-E37A-8648-180020A3AF1A}"/>
              </a:ext>
            </a:extLst>
          </p:cNvPr>
          <p:cNvSpPr txBox="1"/>
          <p:nvPr/>
        </p:nvSpPr>
        <p:spPr>
          <a:xfrm>
            <a:off x="4703928" y="-47672"/>
            <a:ext cx="6096000" cy="92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280">
              <a:lnSpc>
                <a:spcPct val="200000"/>
              </a:lnSpc>
            </a:pPr>
            <a:r>
              <a:rPr lang="en-US" sz="3200" b="1" spc="-1" dirty="0" err="1">
                <a:solidFill>
                  <a:srgbClr val="17365D"/>
                </a:solidFill>
                <a:latin typeface="Cambria"/>
                <a:ea typeface="Cambria"/>
              </a:rPr>
              <a:t>Github</a:t>
            </a:r>
            <a:r>
              <a:rPr lang="en-US" sz="3200" b="1" spc="-1" dirty="0">
                <a:solidFill>
                  <a:srgbClr val="17365D"/>
                </a:solidFill>
                <a:latin typeface="Cambria"/>
                <a:ea typeface="Cambria"/>
              </a:rPr>
              <a:t> Link</a:t>
            </a:r>
            <a:endParaRPr lang="en-US" sz="3200" spc="-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3CCB9-9A7D-FD91-86ED-CC876C15DD10}"/>
              </a:ext>
            </a:extLst>
          </p:cNvPr>
          <p:cNvSpPr txBox="1"/>
          <p:nvPr/>
        </p:nvSpPr>
        <p:spPr>
          <a:xfrm>
            <a:off x="1002890" y="5519651"/>
            <a:ext cx="3224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translator  Page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AA3C9-C9B1-3510-BC9E-452033D370D9}"/>
              </a:ext>
            </a:extLst>
          </p:cNvPr>
          <p:cNvSpPr txBox="1"/>
          <p:nvPr/>
        </p:nvSpPr>
        <p:spPr>
          <a:xfrm>
            <a:off x="8396749" y="5673539"/>
            <a:ext cx="2792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Apps Translator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1691640" y="1813561"/>
            <a:ext cx="74523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1600" b="1" dirty="0"/>
              <a:t>Deployment and Repository</a:t>
            </a:r>
          </a:p>
          <a:p>
            <a:pPr lvl="0"/>
            <a:r>
              <a:rPr lang="en-IN" sz="1600" b="1" dirty="0"/>
              <a:t>Git Hub</a:t>
            </a:r>
            <a:r>
              <a:rPr lang="en-IN" sz="1600" i="1" dirty="0"/>
              <a:t> </a:t>
            </a:r>
            <a:endParaRPr lang="en-IN" sz="1600" dirty="0"/>
          </a:p>
          <a:p>
            <a:r>
              <a:rPr lang="en-IN" sz="1600" b="1" dirty="0"/>
              <a:t>Link:</a:t>
            </a:r>
            <a:r>
              <a:rPr lang="en-IN" sz="1600" dirty="0"/>
              <a:t> </a:t>
            </a:r>
            <a:r>
              <a:rPr lang="en-IN" sz="1600" b="1" u="sng" dirty="0"/>
              <a:t>https://</a:t>
            </a:r>
            <a:r>
              <a:rPr lang="en-IN" sz="1600" b="1" u="sng" dirty="0" err="1"/>
              <a:t>github.com</a:t>
            </a:r>
            <a:r>
              <a:rPr lang="en-IN" sz="1600" b="1" u="sng" dirty="0"/>
              <a:t>/</a:t>
            </a:r>
            <a:r>
              <a:rPr lang="en-IN" sz="1600" b="1" u="sng" dirty="0" err="1"/>
              <a:t>AbhishekMuthannaK</a:t>
            </a:r>
            <a:r>
              <a:rPr lang="en-IN" sz="1600" b="1" u="sng" dirty="0"/>
              <a:t>/secure-</a:t>
            </a:r>
            <a:r>
              <a:rPr lang="en-IN" sz="1600" b="1" u="sng" dirty="0" err="1"/>
              <a:t>aicte</a:t>
            </a:r>
            <a:r>
              <a:rPr lang="en-IN" sz="1600" b="1" u="sng" dirty="0"/>
              <a:t>-</a:t>
            </a:r>
            <a:r>
              <a:rPr lang="en-IN" sz="1600" b="1" u="sng" dirty="0" err="1"/>
              <a:t>connect.git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94304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FBFB3C9-F821-0911-3E48-18F0A4EA7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E1F79F5A-7421-F20B-4800-D83F1B2667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70528" y="869172"/>
            <a:ext cx="988797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Results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A34B3C-2086-4F7D-427A-648AF3822D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87673" y="1112922"/>
            <a:ext cx="9767703" cy="5037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Successfully developed a personalized online meeting platform tailored for AICTE institutions.</a:t>
            </a:r>
          </a:p>
          <a:p>
            <a:r>
              <a:rPr lang="en-US" sz="1800" dirty="0"/>
              <a:t>Implemented secure authentication using </a:t>
            </a:r>
            <a:r>
              <a:rPr lang="en-US" sz="1800" dirty="0" err="1"/>
              <a:t>Supabase</a:t>
            </a:r>
            <a:r>
              <a:rPr lang="en-US" sz="1800" dirty="0"/>
              <a:t>, ensuring only authorized users can access the system.</a:t>
            </a:r>
          </a:p>
          <a:p>
            <a:r>
              <a:rPr lang="en-US" sz="1800" dirty="0"/>
              <a:t>Designed a user-friendly dashboard that displays meetings, user information, and controls in a clean interface.</a:t>
            </a:r>
          </a:p>
          <a:p>
            <a:r>
              <a:rPr lang="en-US" sz="1800" dirty="0"/>
              <a:t>Enabled users to create, schedule, and join meetings seamlessly through the system.</a:t>
            </a:r>
          </a:p>
          <a:p>
            <a:r>
              <a:rPr lang="en-US" sz="1800" dirty="0"/>
              <a:t>Integrated a responsive frontend using React, Vite, and Tailwind CSS for smooth performance across devices.</a:t>
            </a:r>
          </a:p>
          <a:p>
            <a:r>
              <a:rPr lang="en-US" sz="1800" dirty="0"/>
              <a:t>Achieved fast data access and storage through </a:t>
            </a:r>
            <a:r>
              <a:rPr lang="en-US" sz="1800" dirty="0" err="1"/>
              <a:t>Supabase</a:t>
            </a:r>
            <a:r>
              <a:rPr lang="en-US" sz="1800" dirty="0"/>
              <a:t> PostgreSQL database integration.</a:t>
            </a:r>
          </a:p>
          <a:p>
            <a:r>
              <a:rPr lang="en-US" sz="1800" dirty="0"/>
              <a:t>System provides a customized alternative to external platforms like Zoom or Google Meet.</a:t>
            </a:r>
          </a:p>
          <a:p>
            <a:r>
              <a:rPr lang="en-US" sz="1800" dirty="0"/>
              <a:t>Ensures better institutional control, improved security, and enhanced user experience for academic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536682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4A274BD-692C-3C36-B933-42018A03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03B8733F-9939-1331-CBD2-79E44BCAA8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6852" y="839052"/>
            <a:ext cx="12591845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Timeline </a:t>
            </a:r>
            <a:r>
              <a:rPr lang="en-US" sz="3200" dirty="0">
                <a:latin typeface="Cambria"/>
                <a:ea typeface="Cambria"/>
                <a:cs typeface="Cambria"/>
                <a:sym typeface="Cambria"/>
              </a:rPr>
              <a:t>of the Project (Gantt Chart)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IN" sz="32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D43D7E31-95C7-CD19-2DB2-704BFF06B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0386" y="1326552"/>
            <a:ext cx="10667383" cy="5531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Cambria"/>
                <a:sym typeface="Cambria"/>
              </a:rPr>
              <a:t>Gantt Chart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920" y="1591944"/>
            <a:ext cx="9039782" cy="4473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2586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901290" y="2744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"/>
          </p:nvPr>
        </p:nvSpPr>
        <p:spPr>
          <a:xfrm>
            <a:off x="147484" y="988143"/>
            <a:ext cx="11736438" cy="5869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76200" indent="0">
              <a:buNone/>
            </a:pPr>
            <a:r>
              <a:rPr lang="en-IN" dirty="0"/>
              <a:t>[1] M. S. Hossain, ”A Survey of Real-Time Audio-Video Conferencing Platforms,” </a:t>
            </a:r>
            <a:r>
              <a:rPr lang="en-IN" i="1" dirty="0"/>
              <a:t>IEEE Communications Surveys &amp; Tutorials</a:t>
            </a:r>
            <a:r>
              <a:rPr lang="en-IN" dirty="0"/>
              <a:t>, vol. 23, no. 2,</a:t>
            </a:r>
          </a:p>
          <a:p>
            <a:pPr marL="76200" indent="0">
              <a:buNone/>
            </a:pPr>
            <a:r>
              <a:rPr lang="en-IN" dirty="0"/>
              <a:t>pp. 110-128, 2021.</a:t>
            </a:r>
          </a:p>
          <a:p>
            <a:pPr marL="76200" indent="0">
              <a:buNone/>
            </a:pPr>
            <a:r>
              <a:rPr lang="en-IN" dirty="0"/>
              <a:t>[2] AICTE, ”All India Council for Technical Education,” [Online]. Avail-able: https://</a:t>
            </a:r>
            <a:r>
              <a:rPr lang="en-IN" dirty="0" err="1"/>
              <a:t>www.aicte-india.org</a:t>
            </a:r>
            <a:r>
              <a:rPr lang="en-IN" dirty="0"/>
              <a:t>/</a:t>
            </a:r>
          </a:p>
          <a:p>
            <a:pPr marL="76200" indent="0">
              <a:buNone/>
            </a:pPr>
            <a:r>
              <a:rPr lang="en-IN" dirty="0"/>
              <a:t>[3] S. K. Gupta, et al., ”Performance Analysis of Zoom, Microsoft </a:t>
            </a:r>
            <a:r>
              <a:rPr lang="en-IN" dirty="0" err="1"/>
              <a:t>Teams,and</a:t>
            </a:r>
            <a:r>
              <a:rPr lang="en-IN" dirty="0"/>
              <a:t> </a:t>
            </a:r>
            <a:r>
              <a:rPr lang="en-IN" dirty="0" err="1"/>
              <a:t>WebEx</a:t>
            </a:r>
            <a:r>
              <a:rPr lang="en-IN" dirty="0"/>
              <a:t>,” in </a:t>
            </a:r>
            <a:r>
              <a:rPr lang="en-IN" i="1" dirty="0"/>
              <a:t>2021 IEEE International Conference on Communications (ICC)</a:t>
            </a:r>
            <a:r>
              <a:rPr lang="en-IN" dirty="0"/>
              <a:t>.</a:t>
            </a:r>
          </a:p>
          <a:p>
            <a:pPr marL="76200" indent="0">
              <a:buNone/>
            </a:pPr>
            <a:r>
              <a:rPr lang="en-IN" dirty="0"/>
              <a:t>[4] J. A. Kroll, ”Data Sovereignty and the Cloud: A Governance </a:t>
            </a:r>
            <a:r>
              <a:rPr lang="en-IN" dirty="0" err="1"/>
              <a:t>Challenge,”</a:t>
            </a:r>
            <a:r>
              <a:rPr lang="en-IN" i="1" dirty="0" err="1"/>
              <a:t>IEEE</a:t>
            </a:r>
            <a:r>
              <a:rPr lang="en-IN" i="1" dirty="0"/>
              <a:t> Security &amp; Privacy</a:t>
            </a:r>
            <a:r>
              <a:rPr lang="en-IN" dirty="0"/>
              <a:t>, vol. 18, no. 4, pp. 55-61, 2020.</a:t>
            </a:r>
          </a:p>
          <a:p>
            <a:pPr marL="76200" indent="0">
              <a:buNone/>
            </a:pPr>
            <a:r>
              <a:rPr lang="en-IN" dirty="0"/>
              <a:t>[5] A. Johnston and D. C. Burnett, ”WebRTC: The Definitive </a:t>
            </a:r>
            <a:r>
              <a:rPr lang="en-IN" dirty="0" err="1"/>
              <a:t>Guide,”O’Reilly</a:t>
            </a:r>
            <a:r>
              <a:rPr lang="en-IN" dirty="0"/>
              <a:t> Media, 2019.</a:t>
            </a:r>
          </a:p>
          <a:p>
            <a:pPr marL="76200" indent="0">
              <a:buNone/>
            </a:pPr>
            <a:r>
              <a:rPr lang="en-IN" dirty="0"/>
              <a:t>[6] R. K. Sharma, ”An Analysis of Open-Source Video Conferencing Tools for E-Learning,” </a:t>
            </a:r>
            <a:r>
              <a:rPr lang="en-IN" i="1" dirty="0"/>
              <a:t>IEEE Transactions on Learning Technologies</a:t>
            </a:r>
            <a:r>
              <a:rPr lang="en-IN" dirty="0"/>
              <a:t>, vol. 14,no. 3, pp. 287-295, 2021.</a:t>
            </a:r>
          </a:p>
          <a:p>
            <a:pPr marL="76200" indent="0">
              <a:buNone/>
            </a:pPr>
            <a:r>
              <a:rPr lang="en-IN" dirty="0"/>
              <a:t>[7] N. V. Kumar and K. R. R. Kumar, ”Blockchain for Secure E-Governance and Digital Identity,” </a:t>
            </a:r>
            <a:r>
              <a:rPr lang="en-IN" i="1" dirty="0"/>
              <a:t>IEEE Access</a:t>
            </a:r>
            <a:r>
              <a:rPr lang="en-IN" dirty="0"/>
              <a:t>, vol. 8, pp. 14721-14730, 2020.</a:t>
            </a:r>
          </a:p>
          <a:p>
            <a:pPr marL="76200" indent="0">
              <a:buNone/>
            </a:pPr>
            <a:r>
              <a:rPr lang="en-IN" dirty="0"/>
              <a:t>[8] E. </a:t>
            </a:r>
            <a:r>
              <a:rPr lang="en-IN" dirty="0" err="1"/>
              <a:t>Androulaki</a:t>
            </a:r>
            <a:r>
              <a:rPr lang="en-IN" dirty="0"/>
              <a:t>, et al., ”Hyperledger Fabric: A Distributed Operating System for Permissioned Blockchains,” in </a:t>
            </a:r>
            <a:r>
              <a:rPr lang="en-IN" i="1" dirty="0"/>
              <a:t>Proc. </a:t>
            </a:r>
          </a:p>
          <a:p>
            <a:pPr marL="76200" indent="0">
              <a:buNone/>
            </a:pPr>
            <a:r>
              <a:rPr lang="en-IN" i="1" dirty="0"/>
              <a:t>13th </a:t>
            </a:r>
            <a:r>
              <a:rPr lang="en-IN" i="1" dirty="0" err="1"/>
              <a:t>EuroSys</a:t>
            </a:r>
            <a:r>
              <a:rPr lang="en-IN" i="1" dirty="0"/>
              <a:t> Conf.</a:t>
            </a:r>
            <a:r>
              <a:rPr lang="en-IN" dirty="0"/>
              <a:t>,2018.</a:t>
            </a:r>
          </a:p>
          <a:p>
            <a:pPr marL="76200" indent="0">
              <a:buNone/>
            </a:pPr>
            <a:r>
              <a:rPr lang="en-IN" dirty="0"/>
              <a:t>[9] Government of India, ”Digital India Initiative,” [Online]. Available:</a:t>
            </a:r>
          </a:p>
          <a:p>
            <a:pPr marL="76200" indent="0">
              <a:buNone/>
            </a:pPr>
            <a:r>
              <a:rPr lang="en-IN" dirty="0"/>
              <a:t>https://</a:t>
            </a:r>
            <a:r>
              <a:rPr lang="en-IN" dirty="0" err="1"/>
              <a:t>www.digitalindia.gov.in</a:t>
            </a:r>
            <a:r>
              <a:rPr lang="en-IN" dirty="0"/>
              <a:t>/</a:t>
            </a:r>
          </a:p>
          <a:p>
            <a:pPr marL="76200" indent="0">
              <a:buNone/>
            </a:pPr>
            <a:r>
              <a:rPr lang="en-IN" dirty="0"/>
              <a:t>[10] United Nations, ”SDG 9: Industry, Innovation and Infrastructure,” [On-line]. Available: https://</a:t>
            </a:r>
            <a:r>
              <a:rPr lang="en-IN" dirty="0" err="1"/>
              <a:t>sdgs.un.org</a:t>
            </a:r>
            <a:r>
              <a:rPr lang="en-IN" dirty="0"/>
              <a:t>/goals/goal9</a:t>
            </a:r>
          </a:p>
          <a:p>
            <a:pPr marL="76200" indent="0">
              <a:buNone/>
            </a:pPr>
            <a:r>
              <a:rPr lang="en-IN" dirty="0"/>
              <a:t>[11] A. Jennings, ”Understanding WebRTC Security,” O’Reilly Media, 2018.</a:t>
            </a:r>
          </a:p>
          <a:p>
            <a:pPr marL="76200" indent="0">
              <a:buNone/>
            </a:pPr>
            <a:r>
              <a:rPr lang="en-IN" dirty="0"/>
              <a:t>D. J. Bernstein and T. Lange, ”Post-quantum cryptography,” </a:t>
            </a:r>
            <a:r>
              <a:rPr lang="en-IN" i="1" dirty="0"/>
              <a:t>Nature</a:t>
            </a:r>
            <a:r>
              <a:rPr lang="en-IN" dirty="0"/>
              <a:t>,</a:t>
            </a:r>
          </a:p>
          <a:p>
            <a:pPr marL="76200" indent="0">
              <a:buNone/>
            </a:pPr>
            <a:r>
              <a:rPr lang="en-IN" dirty="0"/>
              <a:t>vol. 549, pp. 188-194, 2017.</a:t>
            </a:r>
          </a:p>
          <a:p>
            <a:pPr marL="152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4139" y="1702517"/>
            <a:ext cx="5621532" cy="393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1457</TotalTime>
  <Words>2215</Words>
  <Application>Microsoft Macintosh PowerPoint</Application>
  <PresentationFormat>Widescreen</PresentationFormat>
  <Paragraphs>275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</vt:lpstr>
      <vt:lpstr>Verdana</vt:lpstr>
      <vt:lpstr>Wingdings</vt:lpstr>
      <vt:lpstr>Bioinformatics</vt:lpstr>
      <vt:lpstr>PSCS_129_ DESIGN AND DEVELOPED A PRESONALIZED ONLINE MEETING FOR AICTIE</vt:lpstr>
      <vt:lpstr>Content</vt:lpstr>
      <vt:lpstr>Problem Statement</vt:lpstr>
      <vt:lpstr>Analysis of problem Statement</vt:lpstr>
      <vt:lpstr>Abstract</vt:lpstr>
      <vt:lpstr>Literature Survey</vt:lpstr>
      <vt:lpstr> Objectives</vt:lpstr>
      <vt:lpstr>Existing Methods</vt:lpstr>
      <vt:lpstr>Drawbacks</vt:lpstr>
      <vt:lpstr>PowerPoint Presentation</vt:lpstr>
      <vt:lpstr>PowerPoint Presentation</vt:lpstr>
      <vt:lpstr>PowerPoint Presentation</vt:lpstr>
      <vt:lpstr>       Technologies Used </vt:lpstr>
      <vt:lpstr>Modules  </vt:lpstr>
      <vt:lpstr>Hardware and Software details  </vt:lpstr>
      <vt:lpstr>PowerPoint Presentation</vt:lpstr>
      <vt:lpstr>PowerPoint Presentation</vt:lpstr>
      <vt:lpstr>PowerPoint Presentation</vt:lpstr>
      <vt:lpstr>Results  </vt:lpstr>
      <vt:lpstr>Timeline of the Project (Gantt Chart)  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PSCS_55_ Student dropout analysis for school education</dc:title>
  <dc:creator>Admin</dc:creator>
  <cp:lastModifiedBy>PANABAKAM NITHIN</cp:lastModifiedBy>
  <cp:revision>35</cp:revision>
  <dcterms:modified xsi:type="dcterms:W3CDTF">2025-12-01T10:39:55Z</dcterms:modified>
</cp:coreProperties>
</file>